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10" d="100"/>
          <a:sy n="110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C01CF-A470-9148-A957-38524F776CC1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E893A-8B51-5941-9AE1-3F73237F88B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0771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本研究參考 AI 價值鏈的概念，將 AI 相關經濟活動區分為核心 AI 產品與服務、AI 硬體供應鏈，以及 AI 應用產業。考量官方行業統計並非依 AI 關聯程度分類，本研究將以產品出口辨識直接相關的經濟活動，並以行業別產值、投資、就業及薪資資料分析其可能的外溢效果。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E893A-8B51-5941-9AE1-3F73237F88BC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7236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AE843-B700-DF5F-652A-27BD7FE59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60378E-30EB-BF7B-D1F8-6D9114348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D720B5-F01C-9365-BC29-7B84663D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5F731E-AFA2-6EC0-8842-892D4C8F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17D08E-B4EB-4B00-698B-079CF9CF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2940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70D5C-DC79-0119-E456-CFFAEEE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0770F2-7131-086F-A7AC-DE4AD6E0C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EFA542-8E68-5F26-B51C-CA720C13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40507B-BFAC-4D99-F9BB-7D74F3C1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CF56F3-B7A1-B8C0-A885-1D131FB8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610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631305-4B6F-7C9C-02C2-11F56217A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72645C-5BE2-B914-BBE8-3D777082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CA9A61-814E-162B-473E-879AC24F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EC2A42-9610-E81A-3630-AF79ADDA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2C6F33-045A-A78A-C0AB-D0CE03F9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908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D29D4C-37A3-E6A5-CCE7-512E00C00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DD701-BA2F-0B9B-23C7-15A8ED2AB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1EE9CD-085B-3C27-2AA7-348CB18A2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A4652E3-5A81-9D00-AAC4-375C87E6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3066A9-E075-1240-18E8-756E8B43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68D304-3A1D-AE99-35F9-38AA68AFC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808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3A87FE-67A4-DC5A-07FA-AEC13BD3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FB5CEF-4A3F-A93E-5077-A76E84083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112A8A-882A-21E2-F947-6AC24EEA5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FABAEA-D60E-89EF-102F-E5835A4AE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96C4A36-CBF3-D8BF-59A6-2CBE8A62F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AB30CB-8C13-1E92-8F61-68CB8B51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0538ECC-6DBB-0220-0F56-FCE48F780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A280ACA-6132-7446-6B75-21F87827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732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A3633-27D6-0FBB-B50F-3737104F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6C14F9-CB84-3EF1-0D6F-0E5CFAFA1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5473923-9103-8E12-97CB-AAB228D5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2726C5-064F-CC25-A23F-B2CDFD59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977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9BDA830-8BCC-E3A2-70E7-826F92F2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D04A19-0AF2-70B5-B171-824C9558F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58AEE0-E724-A3B5-C7C4-3ED3AB3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276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454653-C188-A157-C8A0-3946EF37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500020-2EEE-0F62-AFFA-4FE8C7F0D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5841B6-4718-8F1D-5B35-334A4028D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A1577E-3ED1-62E4-3D5A-F307D2BD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C5D403-BBF0-D9B1-A9EB-9FC9FE5A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FFB3D5A-14A7-E6DC-DD3A-A4CD7972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851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E7A96C-E9E8-CA3D-5B35-E9BB09FC5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0A1E47E-3E5B-300C-8951-26767A9F28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B32431-DB51-EEFB-CD5B-93AE550E1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E1D0B09-BB73-7602-FD11-D905913D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C1319A-C7D4-8288-2BBF-2405DBD6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783DBF-CE6D-25CD-D989-DEC9498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08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1A82CD-E47C-41B4-71E8-2D13C445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B7B5CC-2561-6C86-ABD8-815B934B1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7D722C-B2D0-13D2-5726-2A028DDF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09699C-F4CE-C56D-73B6-D7CB33AF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0BC033-7DB1-C666-0EE1-68A5B3F62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628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DB663F-BE0A-BB6A-C6D5-93B31CC11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B4CEDE4-D831-4D3A-54A0-26DAAD51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BE6B7E-F117-8C77-9024-5E6BA47E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65D0C-870B-E36E-5108-75F1B829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100EE7-94A7-903C-254A-795E3C46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204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528F634-61AA-0E97-1D8E-8CFB1977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F5B1DD-A279-A622-9F0A-FCDEBFF7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62C9D8-0C3D-532C-25B4-F8437B9EB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9CD90-AC21-664B-B70F-C97865A9742F}" type="datetimeFigureOut">
              <a:rPr kumimoji="1" lang="zh-TW" altLang="en-US" smtClean="0"/>
              <a:t>2026/10/29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8556EE-BC91-ACBC-8255-D83AB610A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BC7327-AEA9-EE2A-937C-8EF30B413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B7BCE-625C-A140-B5B9-22B7C45106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117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58D7A-51DD-E8AE-EC36-16CF00E86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zh-TW" sz="4400" dirty="0"/>
              <a:t> AI 熱潮</a:t>
            </a:r>
            <a:r>
              <a:rPr lang="zh-TW" altLang="en-US" sz="4400" dirty="0"/>
              <a:t>下，</a:t>
            </a:r>
            <a:r>
              <a:rPr lang="zh-TW" altLang="zh-TW" sz="4400" dirty="0"/>
              <a:t>台灣科技產業</a:t>
            </a:r>
            <a:r>
              <a:rPr lang="zh-TW" altLang="en-US" sz="4400" dirty="0"/>
              <a:t>的</a:t>
            </a:r>
            <a:r>
              <a:rPr lang="zh-TW" altLang="zh-TW" sz="4400" dirty="0"/>
              <a:t>成長</a:t>
            </a:r>
            <a:r>
              <a:rPr lang="zh-TW" altLang="en-US" sz="4400" dirty="0"/>
              <a:t>對</a:t>
            </a:r>
            <a:r>
              <a:rPr lang="zh-TW" altLang="zh-TW" sz="4400" dirty="0"/>
              <a:t>整體經濟與勞動市場</a:t>
            </a:r>
            <a:r>
              <a:rPr lang="zh-TW" altLang="en-US" sz="4400" dirty="0"/>
              <a:t>之影響</a:t>
            </a:r>
            <a:endParaRPr kumimoji="1" lang="zh-TW" altLang="en-US" sz="4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7C156AF-4E63-C969-FE01-2A079F66AF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zh-TW" dirty="0"/>
          </a:p>
          <a:p>
            <a:r>
              <a:rPr kumimoji="1" lang="zh-TW" altLang="en-US" dirty="0"/>
              <a:t>師大教育系 林鈺紋</a:t>
            </a:r>
          </a:p>
        </p:txBody>
      </p:sp>
    </p:spTree>
    <p:extLst>
      <p:ext uri="{BB962C8B-B14F-4D97-AF65-F5344CB8AC3E}">
        <p14:creationId xmlns:p14="http://schemas.microsoft.com/office/powerpoint/2010/main" val="1761278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388F61-869C-F771-6789-0E1564F7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研究背景與動機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E24B5DED-5EB6-04E8-5F6B-098856CB6937}"/>
              </a:ext>
            </a:extLst>
          </p:cNvPr>
          <p:cNvSpPr txBox="1">
            <a:spLocks/>
          </p:cNvSpPr>
          <p:nvPr/>
        </p:nvSpPr>
        <p:spPr>
          <a:xfrm>
            <a:off x="838199" y="12004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2CADF6-5BD8-F2D4-646A-2C838872DE0C}"/>
              </a:ext>
            </a:extLst>
          </p:cNvPr>
          <p:cNvSpPr txBox="1"/>
          <p:nvPr/>
        </p:nvSpPr>
        <p:spPr>
          <a:xfrm>
            <a:off x="1109481" y="2291599"/>
            <a:ext cx="391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台灣受惠於</a:t>
            </a:r>
            <a:r>
              <a:rPr kumimoji="1" lang="en-US" altLang="zh-TW" dirty="0"/>
              <a:t>AI</a:t>
            </a:r>
            <a:r>
              <a:rPr kumimoji="1" lang="zh-TW" altLang="en-US" dirty="0"/>
              <a:t>熱潮，</a:t>
            </a:r>
            <a:r>
              <a:rPr kumimoji="1" lang="en-US" altLang="zh-TW" dirty="0"/>
              <a:t>GDP</a:t>
            </a:r>
            <a:r>
              <a:rPr kumimoji="1" lang="zh-TW" altLang="en-US" dirty="0"/>
              <a:t>大幅成長</a:t>
            </a: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52213C6-32C1-724B-D4D2-1A6F2455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61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D018E-D1A8-5BCB-9D71-BEC01996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0640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sz="2800" dirty="0"/>
              <a:t>問題一：2025、2026 年的 AI 熱潮如何改變台灣的產業結構？</a:t>
            </a:r>
            <a:endParaRPr kumimoji="1" lang="zh-TW" altLang="en-US" sz="2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DF52B4-4E32-20F4-C95A-86786C84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73" y="1145613"/>
            <a:ext cx="11025851" cy="2075043"/>
          </a:xfrm>
        </p:spPr>
        <p:txBody>
          <a:bodyPr>
            <a:normAutofit/>
          </a:bodyPr>
          <a:lstStyle/>
          <a:p>
            <a:r>
              <a:rPr lang="zh-TW" altLang="zh-TW" sz="1600" dirty="0"/>
              <a:t>目前的數據顯示，台灣的 AI 熱潮加速了半導體、資通訊硬體及高附加價值科技產品的出口成長，也提高了這些產業在台灣出口經濟中的重要性。</a:t>
            </a:r>
          </a:p>
          <a:p>
            <a:r>
              <a:rPr lang="zh-TW" altLang="zh-TW" sz="1600" dirty="0"/>
              <a:t>財政部公布的資料顯示，2025 年台灣出口總值約為 6,407 億美元，年增 34.9%，AI 相關需求是重要的成長動力之一。</a:t>
            </a:r>
          </a:p>
          <a:p>
            <a:r>
              <a:rPr lang="zh-TW" altLang="zh-TW" sz="1600" dirty="0"/>
              <a:t>經濟部的資料也顯示，2025 年資通與視聽產品占台灣出口總值的比重達 39.2%，超越電子零組件，成為最大的出口貨品類別。</a:t>
            </a:r>
          </a:p>
          <a:p>
            <a:r>
              <a:rPr lang="zh-TW" altLang="zh-TW" sz="1600" dirty="0"/>
              <a:t>這些數據支持一個值得探討的論點：AI 熱潮不只增加台灣的出口總額，也可能改變出口結構，使科技相關產品的重要性進一步提高。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62FFB25-CD29-837D-B175-F64F752C8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025017"/>
              </p:ext>
            </p:extLst>
          </p:nvPr>
        </p:nvGraphicFramePr>
        <p:xfrm>
          <a:off x="219919" y="3347977"/>
          <a:ext cx="11516808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2015">
                  <a:extLst>
                    <a:ext uri="{9D8B030D-6E8A-4147-A177-3AD203B41FA5}">
                      <a16:colId xmlns:a16="http://schemas.microsoft.com/office/drawing/2014/main" val="3941362561"/>
                    </a:ext>
                  </a:extLst>
                </a:gridCol>
                <a:gridCol w="3816930">
                  <a:extLst>
                    <a:ext uri="{9D8B030D-6E8A-4147-A177-3AD203B41FA5}">
                      <a16:colId xmlns:a16="http://schemas.microsoft.com/office/drawing/2014/main" val="3956824064"/>
                    </a:ext>
                  </a:extLst>
                </a:gridCol>
                <a:gridCol w="3038244">
                  <a:extLst>
                    <a:ext uri="{9D8B030D-6E8A-4147-A177-3AD203B41FA5}">
                      <a16:colId xmlns:a16="http://schemas.microsoft.com/office/drawing/2014/main" val="776713703"/>
                    </a:ext>
                  </a:extLst>
                </a:gridCol>
                <a:gridCol w="1559619">
                  <a:extLst>
                    <a:ext uri="{9D8B030D-6E8A-4147-A177-3AD203B41FA5}">
                      <a16:colId xmlns:a16="http://schemas.microsoft.com/office/drawing/2014/main" val="327152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圖表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作法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回應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資料來源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4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dirty="0"/>
                        <a:t>圖表一：台灣出口總額及年增率（2020–2026 年）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dirty="0"/>
                        <a:t>比較每年出口總額。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dirty="0"/>
                        <a:t>觀察出口年增率的變化。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dirty="0"/>
                        <a:t>2026 年使用最新月份的累計數據，並標示資料截止月份。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台灣出口成長是否在 AI 熱潮下明顯加速？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財政部關務署、財政部統計處</a:t>
                      </a: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39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dirty="0"/>
                        <a:t>圖表二：台灣出口產品結構變化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比較資通與視聽產品、電子零組件、機械、金屬、塑膠及紡織品等類別的出口占比。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台灣的出口成長是普遍發生，還是愈來愈集中在科技相關產品？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財政部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3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圖表三：各產業工業生產指數年增率</a:t>
                      </a:r>
                      <a:br>
                        <a:rPr lang="en-US" altLang="zh-TW" dirty="0"/>
                      </a:br>
                      <a:r>
                        <a:rPr lang="zh-TW" altLang="en-US" dirty="0"/>
                        <a:t>（製造業、電子零組件內部）</a:t>
                      </a:r>
                      <a:endParaRPr lang="zh-TW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比較半導體、電子零組件、電腦電子產品，以及傳統製造業的生產變化。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出口成長是否伴隨國內實際生產增加？不同產業的成長幅度是否存在差異？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經濟部統計處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4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3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F1F21-F611-3DC3-35CC-77D3BD5F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3AB46B-09DF-693D-0F39-4770B2BE4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資料來源：</a:t>
            </a:r>
            <a:r>
              <a:rPr kumimoji="1" lang="en-US" altLang="zh-TW" dirty="0"/>
              <a:t>106/1-115/9</a:t>
            </a:r>
            <a:r>
              <a:rPr kumimoji="1" lang="zh-TW" altLang="en-US" dirty="0"/>
              <a:t>（都拿到了）✅</a:t>
            </a:r>
            <a:endParaRPr kumimoji="1" lang="en-US" altLang="zh-TW" dirty="0"/>
          </a:p>
          <a:p>
            <a:r>
              <a:rPr kumimoji="1" lang="zh-TW" altLang="en-US" dirty="0"/>
              <a:t>要確認</a:t>
            </a:r>
            <a:r>
              <a:rPr lang="zh-TW" altLang="zh-TW" dirty="0"/>
              <a:t>資通與視聽產品</a:t>
            </a:r>
            <a:r>
              <a:rPr lang="zh-TW" altLang="en-US" dirty="0"/>
              <a:t>包含哪些內容？</a:t>
            </a:r>
            <a:endParaRPr lang="en-US" altLang="zh-TW" dirty="0"/>
          </a:p>
          <a:p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1578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3987-B0F1-640C-F2CE-C2EBAF59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sz="3600" dirty="0"/>
              <a:t>問題二：哪些產業在 AI 熱潮下受到正面影響？</a:t>
            </a:r>
            <a:endParaRPr kumimoji="1" lang="zh-TW" altLang="en-US" sz="3600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CE063F8D-88EC-0B5C-57B1-EB620916D8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954292"/>
              </p:ext>
            </p:extLst>
          </p:nvPr>
        </p:nvGraphicFramePr>
        <p:xfrm>
          <a:off x="1000247" y="2265934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5684">
                  <a:extLst>
                    <a:ext uri="{9D8B030D-6E8A-4147-A177-3AD203B41FA5}">
                      <a16:colId xmlns:a16="http://schemas.microsoft.com/office/drawing/2014/main" val="316577854"/>
                    </a:ext>
                  </a:extLst>
                </a:gridCol>
                <a:gridCol w="6179916">
                  <a:extLst>
                    <a:ext uri="{9D8B030D-6E8A-4147-A177-3AD203B41FA5}">
                      <a16:colId xmlns:a16="http://schemas.microsoft.com/office/drawing/2014/main" val="827631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指標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/>
                        <a:t>可以觀察什麼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53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出口年增率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海外需求是否增加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3185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工業生產年增率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國內實際產出是否增加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700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就業人數年增率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產業是否增加工作機會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87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/>
                        <a:t>實質薪資或薪資中位數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dirty="0"/>
                        <a:t>勞工是否分享產業成長的成果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67749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3C944C1B-696E-7E98-8D19-C36B8131843E}"/>
              </a:ext>
            </a:extLst>
          </p:cNvPr>
          <p:cNvSpPr txBox="1"/>
          <p:nvPr/>
        </p:nvSpPr>
        <p:spPr>
          <a:xfrm>
            <a:off x="108995" y="1158252"/>
            <a:ext cx="10331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操作：</a:t>
            </a:r>
            <a:endParaRPr kumimoji="1"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產業分類：直接受惠的產業、</a:t>
            </a:r>
            <a:r>
              <a:rPr lang="zh-TW" altLang="zh-TW" dirty="0"/>
              <a:t>供應鏈間接受惠的產業</a:t>
            </a:r>
            <a:r>
              <a:rPr lang="zh-TW" altLang="en-US" dirty="0"/>
              <a:t>、</a:t>
            </a:r>
            <a:r>
              <a:rPr lang="zh-TW" altLang="zh-TW" dirty="0"/>
              <a:t>可能間接受惠，也可能面臨壓力的產業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kumimoji="1" lang="zh-TW" altLang="en-US" dirty="0"/>
              <a:t>證明哪些產業真正受惠，四項指標：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4645B2-6B70-077C-580F-246B62FDEFBB}"/>
              </a:ext>
            </a:extLst>
          </p:cNvPr>
          <p:cNvSpPr txBox="1"/>
          <p:nvPr/>
        </p:nvSpPr>
        <p:spPr>
          <a:xfrm>
            <a:off x="108995" y="4279087"/>
            <a:ext cx="117897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如何將產業進行分類？</a:t>
            </a:r>
            <a:endParaRPr kumimoji="1" lang="en-US" altLang="zh-TW" dirty="0"/>
          </a:p>
          <a:p>
            <a:r>
              <a:rPr kumimoji="1" lang="zh-TW" altLang="en-US" dirty="0"/>
              <a:t>說明：</a:t>
            </a:r>
            <a:r>
              <a:rPr lang="zh-TW" altLang="zh-TW" dirty="0"/>
              <a:t>台灣官方海關分類並不能精確辨識所有 AI 相關產品。如，半導體出口分類包含用於汽車電子、消費性電子及工業設備的晶片，不一定都是 AI 晶片。因此，在沒有更細緻的產品或客戶資料時，應稱為「AI 高度關聯產業」，而不是直接將整個電子產業等同於 AI 產業。</a:t>
            </a:r>
            <a:endParaRPr lang="en-US" altLang="zh-TW" dirty="0"/>
          </a:p>
          <a:p>
            <a:endParaRPr lang="en-US" altLang="zh-TW" dirty="0"/>
          </a:p>
          <a:p>
            <a:pPr lvl="0"/>
            <a:r>
              <a:rPr lang="zh-TW" altLang="zh-TW" dirty="0"/>
              <a:t>用</a:t>
            </a:r>
            <a:r>
              <a:rPr lang="zh-TW" altLang="zh-TW" dirty="0">
                <a:solidFill>
                  <a:srgbClr val="FF0000"/>
                </a:solidFill>
              </a:rPr>
              <a:t>產品分類</a:t>
            </a:r>
            <a:r>
              <a:rPr lang="zh-TW" altLang="zh-TW" dirty="0"/>
              <a:t>辨識 AI 相關出口。 例如 AI 晶片、伺服器及相關產品，但需確認實際稅則範圍。</a:t>
            </a:r>
          </a:p>
          <a:p>
            <a:pPr lvl="0"/>
            <a:r>
              <a:rPr lang="zh-TW" altLang="zh-TW" dirty="0"/>
              <a:t>用</a:t>
            </a:r>
            <a:r>
              <a:rPr lang="zh-TW" altLang="zh-TW" dirty="0">
                <a:solidFill>
                  <a:srgbClr val="FF0000"/>
                </a:solidFill>
              </a:rPr>
              <a:t>行業分類</a:t>
            </a:r>
            <a:r>
              <a:rPr lang="zh-TW" altLang="zh-TW" dirty="0"/>
              <a:t>分析產值、投資、就業與薪資。 將半導體、電腦電子產品及部分供應鏈產業分別比較。</a:t>
            </a:r>
          </a:p>
          <a:p>
            <a:pPr lvl="0"/>
            <a:r>
              <a:rPr lang="zh-TW" altLang="zh-TW" dirty="0"/>
              <a:t>用</a:t>
            </a:r>
            <a:r>
              <a:rPr lang="zh-TW" altLang="zh-TW" dirty="0">
                <a:solidFill>
                  <a:srgbClr val="FF0000"/>
                </a:solidFill>
              </a:rPr>
              <a:t>跨產業比較</a:t>
            </a:r>
            <a:r>
              <a:rPr lang="zh-TW" altLang="zh-TW" dirty="0"/>
              <a:t>檢驗外溢效果。 不預設傳統產業一定受惠或受害，而是看哪些產業成長、哪些沒有，以及可能的原因。</a:t>
            </a:r>
          </a:p>
        </p:txBody>
      </p:sp>
    </p:spTree>
    <p:extLst>
      <p:ext uri="{BB962C8B-B14F-4D97-AF65-F5344CB8AC3E}">
        <p14:creationId xmlns:p14="http://schemas.microsoft.com/office/powerpoint/2010/main" val="905434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DB16-A73A-EB89-731A-ED51BC1D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32A4D-75EB-5D7C-D542-54BB67CC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12F9AE-9F18-6E7E-32B4-E3622D14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885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8CC0B-8896-4215-163C-67E47B62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E4D733-0D01-B0B3-D422-1E1E5C67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3200" dirty="0"/>
              <a:t>問題三：AI 熱潮是否帶動其他產業，還是使非半導體產業受到更大的負面影響？</a:t>
            </a:r>
            <a:endParaRPr kumimoji="1" lang="zh-TW" altLang="en-US" sz="32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E04658-749F-CB4E-8F0A-A382EDBD6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sz="2000" dirty="0"/>
              <a:t>問題改寫：</a:t>
            </a:r>
            <a:r>
              <a:rPr lang="zh-TW" altLang="zh-TW" sz="2000" dirty="0"/>
              <a:t>AI 驅動的經濟成長，是否透過供應鏈與需求效果擴散至其他產業？還是形成不均衡的成長，使科技相關產業獲益更多，而其他產業面臨相對不利的處境？</a:t>
            </a:r>
          </a:p>
          <a:p>
            <a:r>
              <a:rPr lang="zh-TW" altLang="zh-TW" sz="2000" dirty="0"/>
              <a:t>機制一：正向外溢效果</a:t>
            </a:r>
            <a:endParaRPr lang="en-US" altLang="zh-TW" sz="2000" dirty="0"/>
          </a:p>
          <a:p>
            <a:r>
              <a:rPr lang="zh-TW" altLang="zh-TW" sz="2000" dirty="0"/>
              <a:t>機制二：不均衡成長與負面壓力</a:t>
            </a:r>
            <a:endParaRPr kumimoji="1" lang="zh-TW" altLang="en-US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9F68FAA-BFE1-8936-2977-7DB209482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75022"/>
              </p:ext>
            </p:extLst>
          </p:nvPr>
        </p:nvGraphicFramePr>
        <p:xfrm>
          <a:off x="687728" y="3653155"/>
          <a:ext cx="1102585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310">
                  <a:extLst>
                    <a:ext uri="{9D8B030D-6E8A-4147-A177-3AD203B41FA5}">
                      <a16:colId xmlns:a16="http://schemas.microsoft.com/office/drawing/2014/main" val="3941362561"/>
                    </a:ext>
                  </a:extLst>
                </a:gridCol>
                <a:gridCol w="4128682">
                  <a:extLst>
                    <a:ext uri="{9D8B030D-6E8A-4147-A177-3AD203B41FA5}">
                      <a16:colId xmlns:a16="http://schemas.microsoft.com/office/drawing/2014/main" val="3956824064"/>
                    </a:ext>
                  </a:extLst>
                </a:gridCol>
                <a:gridCol w="2908725">
                  <a:extLst>
                    <a:ext uri="{9D8B030D-6E8A-4147-A177-3AD203B41FA5}">
                      <a16:colId xmlns:a16="http://schemas.microsoft.com/office/drawing/2014/main" val="776713703"/>
                    </a:ext>
                  </a:extLst>
                </a:gridCol>
                <a:gridCol w="1493133">
                  <a:extLst>
                    <a:ext uri="{9D8B030D-6E8A-4147-A177-3AD203B41FA5}">
                      <a16:colId xmlns:a16="http://schemas.microsoft.com/office/drawing/2014/main" val="327152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圖表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作法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目的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資料來源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4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dirty="0"/>
                        <a:t>圖表四：科技業與傳統產業的生產成長比較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zh-TW" altLang="zh-TW" dirty="0"/>
                        <a:t>比較半導體、資通訊硬體、機械、紡織、金屬、塑膠及化學材料等產業的工業生產年增率。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觀察非 AI 產業是否同步成長、停滯或衰退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398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zh-TW" dirty="0"/>
                        <a:t>圖表五：AI 供應鏈關聯程度與產業表現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比較與 AI 供應鏈高度相關、以及關聯程度較低的產業，在產出、投資、就業與薪資方面的變化。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這比單純比較科技業與非科技業更有解釋力。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3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dirty="0"/>
                        <a:t>圖表三：各產業工業生產指數年增率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觀察不同產業的增加值占比，並同時比較實質產出成長。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zh-TW" dirty="0"/>
                        <a:t>能區分產業相對重要性下降，與產業本身真的萎縮。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04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65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56349-4C23-9569-3472-3E292C44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B367D5-5FDD-2A05-1AAF-C8C3F9C0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3188CF-3CCC-702F-545A-FA2D60BB3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358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7C44-7DD7-710B-AF47-6B88FD42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0D8B1-F667-6FD5-DA97-1A7AFED3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097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zh-TW" sz="3600" b="1" dirty="0"/>
              <a:t>問題四：AI 熱潮如何改變台灣的勞動市場？</a:t>
            </a:r>
            <a:endParaRPr kumimoji="1"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21A011-B95B-A243-D97E-890F777E3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660"/>
            <a:ext cx="10515600" cy="5113398"/>
          </a:xfrm>
        </p:spPr>
        <p:txBody>
          <a:bodyPr>
            <a:normAutofit/>
          </a:bodyPr>
          <a:lstStyle/>
          <a:p>
            <a:r>
              <a:rPr kumimoji="1" lang="zh-TW" altLang="en-US" sz="1800" dirty="0"/>
              <a:t>四大面向</a:t>
            </a:r>
            <a:endParaRPr kumimoji="1" lang="en-US" altLang="zh-TW" sz="18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1800" dirty="0"/>
              <a:t>就業與勞動需求</a:t>
            </a:r>
            <a:r>
              <a:rPr lang="zh-TW" altLang="en-US" sz="1800" dirty="0"/>
              <a:t>：</a:t>
            </a:r>
            <a:r>
              <a:rPr lang="zh-TW" altLang="zh-TW" sz="1800" dirty="0"/>
              <a:t>AI 相關產業的就業人數是否增加？企業究竟是透過招募更多員工、延長工時，還是增加資本設備來滿足需求？</a:t>
            </a:r>
            <a:endParaRPr lang="en-US" altLang="zh-TW" sz="18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1800" dirty="0"/>
              <a:t>薪資成長與所得分配</a:t>
            </a:r>
            <a:r>
              <a:rPr lang="zh-TW" altLang="en-US" sz="1800" dirty="0"/>
              <a:t>：</a:t>
            </a:r>
            <a:r>
              <a:rPr lang="zh-TW" altLang="zh-TW" sz="1800" dirty="0"/>
              <a:t>科技業員工的薪資成長是否高於傳統製造業及服務業？</a:t>
            </a:r>
            <a:r>
              <a:rPr lang="zh-TW" altLang="en-US" sz="1800" dirty="0"/>
              <a:t>（</a:t>
            </a:r>
            <a:r>
              <a:rPr lang="zh-TW" altLang="zh-TW" sz="1800" dirty="0"/>
              <a:t>比較：各產業</a:t>
            </a:r>
            <a:r>
              <a:rPr lang="zh-TW" altLang="zh-TW" sz="1800" dirty="0">
                <a:solidFill>
                  <a:srgbClr val="FF0000"/>
                </a:solidFill>
              </a:rPr>
              <a:t>經常性薪資</a:t>
            </a:r>
            <a:r>
              <a:rPr lang="zh-TW" altLang="en-US" sz="1800" dirty="0"/>
              <a:t>、</a:t>
            </a:r>
            <a:r>
              <a:rPr lang="zh-TW" altLang="zh-TW" sz="1800" dirty="0"/>
              <a:t>薪資中位數</a:t>
            </a:r>
            <a:r>
              <a:rPr lang="zh-TW" altLang="en-US" sz="1800" dirty="0"/>
              <a:t>、</a:t>
            </a:r>
            <a:r>
              <a:rPr lang="zh-TW" altLang="zh-TW" sz="1800" dirty="0"/>
              <a:t>獎金與加班費</a:t>
            </a:r>
            <a:r>
              <a:rPr lang="zh-TW" altLang="en-US" sz="1800" dirty="0"/>
              <a:t>、</a:t>
            </a:r>
            <a:r>
              <a:rPr lang="zh-TW" altLang="zh-TW" sz="1800" dirty="0"/>
              <a:t>扣除通貨膨脹後的</a:t>
            </a:r>
            <a:r>
              <a:rPr lang="zh-TW" altLang="zh-TW" sz="1800" dirty="0">
                <a:solidFill>
                  <a:srgbClr val="FF0000"/>
                </a:solidFill>
              </a:rPr>
              <a:t>實質薪資</a:t>
            </a:r>
            <a:r>
              <a:rPr lang="zh-TW" altLang="en-US" sz="1800" dirty="0"/>
              <a:t>、</a:t>
            </a:r>
            <a:r>
              <a:rPr lang="zh-TW" altLang="zh-TW" sz="1800" dirty="0"/>
              <a:t>不同職業、教育程度與年齡群體的薪資差異</a:t>
            </a:r>
            <a:r>
              <a:rPr lang="zh-TW" altLang="en-US" sz="1800" dirty="0"/>
              <a:t>）</a:t>
            </a:r>
            <a:endParaRPr lang="en-US" altLang="zh-TW" sz="1800" dirty="0"/>
          </a:p>
          <a:p>
            <a:pPr marL="457200" indent="-457200">
              <a:buFont typeface="+mj-lt"/>
              <a:buAutoNum type="arabicPeriod"/>
            </a:pPr>
            <a:r>
              <a:rPr lang="zh-TW" altLang="zh-TW" sz="1800" dirty="0"/>
              <a:t>技能需求與職業結構</a:t>
            </a:r>
            <a:r>
              <a:rPr lang="zh-TW" altLang="en-US" sz="1800" dirty="0"/>
              <a:t>：</a:t>
            </a:r>
            <a:r>
              <a:rPr lang="zh-TW" altLang="zh-TW" sz="1800" dirty="0"/>
              <a:t>AI 相關投資可能改變企業對不同技能的需求，即使總就業人數沒有明顯變化。</a:t>
            </a:r>
            <a:r>
              <a:rPr lang="zh-TW" altLang="en-US" sz="1800" dirty="0"/>
              <a:t>（可</a:t>
            </a:r>
            <a:r>
              <a:rPr lang="zh-TW" altLang="zh-TW" sz="1800" dirty="0"/>
              <a:t>觀察半導體工程師、設備技術人員、資料中心基礎設施人員、軟體與 AI 相關專業人員的就業與職缺變化</a:t>
            </a:r>
            <a:r>
              <a:rPr lang="zh-TW" altLang="en-US" sz="1800" dirty="0"/>
              <a:t>。要使用</a:t>
            </a:r>
            <a:r>
              <a:rPr lang="zh-TW" altLang="zh-TW" sz="1800" dirty="0"/>
              <a:t>實際職業就業人數與職缺資料進行驗證。</a:t>
            </a:r>
            <a:r>
              <a:rPr lang="zh-TW" altLang="en-US" sz="1800" dirty="0"/>
              <a:t>）</a:t>
            </a:r>
            <a:endParaRPr lang="en-US" altLang="zh-TW" sz="1800" dirty="0"/>
          </a:p>
          <a:p>
            <a:pPr marL="342900" indent="-342900">
              <a:buFont typeface="+mj-lt"/>
              <a:buAutoNum type="arabicPeriod"/>
            </a:pPr>
            <a:r>
              <a:rPr lang="zh-TW" altLang="zh-TW" sz="1800" dirty="0"/>
              <a:t>勞動條件與不平等</a:t>
            </a:r>
            <a:r>
              <a:rPr lang="zh-TW" altLang="en-US" sz="1800" dirty="0"/>
              <a:t>：</a:t>
            </a:r>
            <a:r>
              <a:rPr lang="zh-TW" altLang="zh-TW" sz="1800" dirty="0"/>
              <a:t>薪資成長是否集中在技術專業人員</a:t>
            </a:r>
            <a:r>
              <a:rPr lang="zh-TW" altLang="en-US" sz="1800" dirty="0"/>
              <a:t>、</a:t>
            </a:r>
            <a:r>
              <a:rPr lang="zh-TW" altLang="zh-TW" sz="1800" dirty="0"/>
              <a:t>生產線員工是否主要透過獎金增加所得，卻需要付出更多工時</a:t>
            </a:r>
            <a:r>
              <a:rPr lang="zh-TW" altLang="en-US" sz="1800" dirty="0"/>
              <a:t>、</a:t>
            </a:r>
            <a:r>
              <a:rPr lang="zh-TW" altLang="zh-TW" sz="1800" dirty="0"/>
              <a:t>非科技產業的勞工是否面臨較緩慢的薪資成長</a:t>
            </a:r>
            <a:r>
              <a:rPr lang="zh-TW" altLang="en-US" sz="1800" dirty="0"/>
              <a:t>、</a:t>
            </a:r>
            <a:r>
              <a:rPr lang="zh-TW" altLang="zh-TW" sz="1800" dirty="0"/>
              <a:t>平均薪資與薪資中位數之間的差距是否擴大？</a:t>
            </a:r>
            <a:br>
              <a:rPr lang="en-US" altLang="zh-TW" sz="1800" dirty="0"/>
            </a:br>
            <a:br>
              <a:rPr lang="en-US" altLang="zh-TW" sz="1800" dirty="0"/>
            </a:br>
            <a:r>
              <a:rPr lang="zh-TW" altLang="en-US" sz="1800" dirty="0"/>
              <a:t>→</a:t>
            </a:r>
            <a:r>
              <a:rPr lang="zh-TW" altLang="zh-TW" sz="1800" dirty="0"/>
              <a:t>主計總處的資料顯示，2026 年 7 月台灣本國籍全時受僱員工的平均經常性薪資為 52,528 元，年增 3.67%；薪資中位數為 41,397 元，年增 4.04%。工業及服務業受僱員工人數則較去年同期增加 1.01%。</a:t>
            </a:r>
            <a:br>
              <a:rPr lang="en-US" altLang="zh-TW" sz="1800" dirty="0"/>
            </a:br>
            <a:r>
              <a:rPr lang="zh-TW" altLang="en-US" sz="1800" dirty="0"/>
              <a:t>→</a:t>
            </a:r>
            <a:r>
              <a:rPr lang="zh-TW" altLang="zh-TW" sz="1800" dirty="0"/>
              <a:t>這些數據顯示，2026 年薪資與就業確實有所變化，但不能直接證明這些變化是 AI 所造成，也不能證明所有產業的勞工都同樣受惠。要回答這個問題，仍然需要進行產業別比較。</a:t>
            </a:r>
          </a:p>
          <a:p>
            <a:pPr marL="457200" indent="-457200">
              <a:buFont typeface="+mj-lt"/>
              <a:buAutoNum type="arabicPeriod"/>
            </a:pPr>
            <a:endParaRPr lang="zh-TW" altLang="zh-TW" sz="1800" dirty="0"/>
          </a:p>
          <a:p>
            <a:pPr marL="457200" indent="-457200">
              <a:buFont typeface="+mj-lt"/>
              <a:buAutoNum type="arabicPeriod"/>
            </a:pPr>
            <a:endParaRPr kumimoji="1"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1864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960672-0FEB-57CF-16D3-0111AD90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71FC5B-6DA8-25D4-B529-35F9645AF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9844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BFB12F-1F0F-4238-CD63-D2A5780EF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1884"/>
            <a:ext cx="10515600" cy="5575079"/>
          </a:xfrm>
        </p:spPr>
        <p:txBody>
          <a:bodyPr>
            <a:normAutofit/>
          </a:bodyPr>
          <a:lstStyle/>
          <a:p>
            <a:r>
              <a:rPr lang="zh-TW" altLang="zh-TW" sz="1800" b="1" dirty="0"/>
              <a:t>六、我會如何進一步強化研究設計？</a:t>
            </a:r>
          </a:p>
          <a:p>
            <a:pPr marL="0" indent="0">
              <a:buNone/>
            </a:pPr>
            <a:r>
              <a:rPr lang="zh-TW" altLang="zh-TW" sz="1800" b="1" dirty="0"/>
              <a:t>第一，區分經濟成長與結構轉變</a:t>
            </a:r>
          </a:p>
          <a:p>
            <a:pPr marL="0" indent="0">
              <a:buNone/>
            </a:pPr>
            <a:r>
              <a:rPr lang="zh-TW" altLang="zh-TW" sz="1800" dirty="0"/>
              <a:t>除了出口成長，也要使用實質產出、產業占比與增加值等指標。出口占比上升，不代表該產業的生產力、就業人數也以相同比例增加。</a:t>
            </a:r>
          </a:p>
          <a:p>
            <a:pPr marL="0" indent="0">
              <a:buNone/>
            </a:pPr>
            <a:r>
              <a:rPr lang="zh-TW" altLang="zh-TW" sz="1800" b="1" dirty="0"/>
              <a:t>第二，明確界定什麼是 AI 相關產業</a:t>
            </a:r>
          </a:p>
          <a:p>
            <a:pPr marL="0" indent="0">
              <a:buNone/>
            </a:pPr>
            <a:r>
              <a:rPr lang="zh-TW" altLang="zh-TW" sz="1800" dirty="0"/>
              <a:t>建立透明的產業分類方式，根據 AI 相關產品與供應鏈關係辨識產業，避免直接將整個電子產業視為 AI 產業。</a:t>
            </a:r>
          </a:p>
          <a:p>
            <a:pPr marL="0" indent="0">
              <a:buNone/>
            </a:pPr>
            <a:r>
              <a:rPr lang="zh-TW" altLang="zh-TW" sz="1800" b="1" dirty="0">
                <a:solidFill>
                  <a:srgbClr val="FF0000"/>
                </a:solidFill>
              </a:rPr>
              <a:t>第三，區分相關性與因果關係</a:t>
            </a:r>
          </a:p>
          <a:p>
            <a:pPr marL="0" indent="0">
              <a:buNone/>
            </a:pPr>
            <a:r>
              <a:rPr lang="zh-TW" altLang="zh-TW" sz="1800" dirty="0"/>
              <a:t>AI 熱潮發生的同時，也存在美中貿易緊張、供應鏈移轉、匯率變動及全球需求變化等因素。這些因素同樣可能影響台灣的出口、投資與就業。</a:t>
            </a:r>
          </a:p>
          <a:p>
            <a:pPr marL="0" indent="0">
              <a:buNone/>
            </a:pPr>
            <a:r>
              <a:rPr lang="zh-TW" altLang="zh-TW" sz="1800" dirty="0"/>
              <a:t>如果要進一步提出因果主張，可以比較 AI 需求曝險程度不同的產業，</a:t>
            </a:r>
            <a:r>
              <a:rPr lang="zh-TW" altLang="zh-TW" sz="1800" dirty="0">
                <a:solidFill>
                  <a:srgbClr val="FF0000"/>
                </a:solidFill>
              </a:rPr>
              <a:t>在 AI 投資加速前後的表現，評估是否適合採用差異中的差異法（Difference-in-Differences）。</a:t>
            </a:r>
          </a:p>
          <a:p>
            <a:pPr marL="0" indent="0">
              <a:buNone/>
            </a:pPr>
            <a:r>
              <a:rPr lang="zh-TW" altLang="zh-TW" sz="1800" dirty="0"/>
              <a:t>不過，八分鐘專題不一定需要進行複雜的因果推論。一份資料可靠、比較合理、清楚交代限制的描述性分析，會比一份因果推論不足的研究更有說服力。</a:t>
            </a:r>
          </a:p>
        </p:txBody>
      </p:sp>
    </p:spTree>
    <p:extLst>
      <p:ext uri="{BB962C8B-B14F-4D97-AF65-F5344CB8AC3E}">
        <p14:creationId xmlns:p14="http://schemas.microsoft.com/office/powerpoint/2010/main" val="321043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1486</Words>
  <Application>Microsoft Macintosh PowerPoint</Application>
  <PresentationFormat>寬螢幕</PresentationFormat>
  <Paragraphs>84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佈景主題</vt:lpstr>
      <vt:lpstr> AI 熱潮下，台灣科技產業的成長對整體經濟與勞動市場之影響</vt:lpstr>
      <vt:lpstr>研究背景與動機</vt:lpstr>
      <vt:lpstr>問題一：2025、2026 年的 AI 熱潮如何改變台灣的產業結構？</vt:lpstr>
      <vt:lpstr>PowerPoint 簡報</vt:lpstr>
      <vt:lpstr>問題二：哪些產業在 AI 熱潮下受到正面影響？</vt:lpstr>
      <vt:lpstr>PowerPoint 簡報</vt:lpstr>
      <vt:lpstr>問題三：AI 熱潮是否帶動其他產業，還是使非半導體產業受到更大的負面影響？</vt:lpstr>
      <vt:lpstr>PowerPoint 簡報</vt:lpstr>
      <vt:lpstr>問題四：AI 熱潮如何改變台灣的勞動市場？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Yuwenlin1009@outlook.com</dc:creator>
  <cp:lastModifiedBy>Yuwenlin1009@outlook.com</cp:lastModifiedBy>
  <cp:revision>1</cp:revision>
  <dcterms:created xsi:type="dcterms:W3CDTF">2026-10-29T05:41:09Z</dcterms:created>
  <dcterms:modified xsi:type="dcterms:W3CDTF">2026-10-29T08:58:12Z</dcterms:modified>
</cp:coreProperties>
</file>